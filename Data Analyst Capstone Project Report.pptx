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4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5.xml" ContentType="application/vnd.openxmlformats-officedocument.presentationml.tag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/>
  <p:notesSz cx="6858000" cy="1857375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B49"/>
    <a:srgbClr val="E76F39"/>
    <a:srgbClr val="0072C3"/>
    <a:srgbClr val="007D79"/>
    <a:srgbClr val="D02670"/>
    <a:srgbClr val="231F20"/>
    <a:srgbClr val="33B1FF"/>
    <a:srgbClr val="262626"/>
    <a:srgbClr val="525252"/>
    <a:srgbClr val="BE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97" autoAdjust="0"/>
    <p:restoredTop sz="89138" autoAdjust="0"/>
  </p:normalViewPr>
  <p:slideViewPr>
    <p:cSldViewPr snapToGrid="0">
      <p:cViewPr varScale="1">
        <p:scale>
          <a:sx n="57" d="100"/>
          <a:sy n="57" d="100"/>
        </p:scale>
        <p:origin x="42" y="996"/>
      </p:cViewPr>
      <p:guideLst>
        <p:guide orient="horz" pos="744"/>
        <p:guide pos="2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m\lab1\popular-languages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m\Downloads\survey_tecnologie_clea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m\Downloads\survey_tecnologie_clean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m\Downloads\survey_tecnologie_clea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m\Downloads\survey_tecnologie_clean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>
        <c:manualLayout>
          <c:layoutTarget val="inner"/>
          <c:xMode val="edge"/>
          <c:yMode val="edge"/>
          <c:x val="0.17392798034003712"/>
          <c:y val="0.14280510018214937"/>
          <c:w val="0.79040322985104572"/>
          <c:h val="0.7721311475409835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Sheet!$B$1</c:f>
              <c:strCache>
                <c:ptCount val="1"/>
                <c:pt idx="0">
                  <c:v>Job Postings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Sheet!$A$2:$A$8</c:f>
              <c:strCache>
                <c:ptCount val="7"/>
                <c:pt idx="0">
                  <c:v>Washington DC</c:v>
                </c:pt>
                <c:pt idx="1">
                  <c:v>Detroit</c:v>
                </c:pt>
                <c:pt idx="2">
                  <c:v>Seattle</c:v>
                </c:pt>
                <c:pt idx="3">
                  <c:v>New York</c:v>
                </c:pt>
                <c:pt idx="4">
                  <c:v>Los Angeles</c:v>
                </c:pt>
                <c:pt idx="5">
                  <c:v>San Francisco</c:v>
                </c:pt>
                <c:pt idx="6">
                  <c:v>Austin</c:v>
                </c:pt>
              </c:strCache>
            </c:strRef>
          </c:cat>
          <c:val>
            <c:numRef>
              <c:f>Sheet!$B$2:$B$8</c:f>
              <c:numCache>
                <c:formatCode>General</c:formatCode>
                <c:ptCount val="7"/>
                <c:pt idx="0">
                  <c:v>5316</c:v>
                </c:pt>
                <c:pt idx="1">
                  <c:v>3945</c:v>
                </c:pt>
                <c:pt idx="2">
                  <c:v>3375</c:v>
                </c:pt>
                <c:pt idx="3">
                  <c:v>3226</c:v>
                </c:pt>
                <c:pt idx="4">
                  <c:v>640</c:v>
                </c:pt>
                <c:pt idx="5">
                  <c:v>435</c:v>
                </c:pt>
                <c:pt idx="6">
                  <c:v>434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39-4513-9010-56BB9E200A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21794800"/>
        <c:axId val="1121783760"/>
      </c:barChart>
      <c:catAx>
        <c:axId val="11217948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21783760"/>
        <c:crosses val="autoZero"/>
        <c:auto val="1"/>
        <c:lblAlgn val="ctr"/>
        <c:lblOffset val="100"/>
        <c:noMultiLvlLbl val="0"/>
      </c:catAx>
      <c:valAx>
        <c:axId val="11217837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21794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Average Annual Salary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Foglio1!$A$2:$A$11</c:f>
              <c:strCache>
                <c:ptCount val="10"/>
                <c:pt idx="0">
                  <c:v>Swift</c:v>
                </c:pt>
                <c:pt idx="1">
                  <c:v>Python</c:v>
                </c:pt>
                <c:pt idx="2">
                  <c:v>C++</c:v>
                </c:pt>
                <c:pt idx="3">
                  <c:v>Javascript</c:v>
                </c:pt>
                <c:pt idx="4">
                  <c:v>Java</c:v>
                </c:pt>
                <c:pt idx="5">
                  <c:v>Go</c:v>
                </c:pt>
                <c:pt idx="6">
                  <c:v>R</c:v>
                </c:pt>
                <c:pt idx="7">
                  <c:v>C#</c:v>
                </c:pt>
                <c:pt idx="8">
                  <c:v>SQL</c:v>
                </c:pt>
                <c:pt idx="9">
                  <c:v>PHP</c:v>
                </c:pt>
              </c:strCache>
            </c:strRef>
          </c:cat>
          <c:val>
            <c:numRef>
              <c:f>Foglio1!$B$2:$B$11</c:f>
              <c:numCache>
                <c:formatCode>0.00</c:formatCode>
                <c:ptCount val="10"/>
                <c:pt idx="0">
                  <c:v>130801</c:v>
                </c:pt>
                <c:pt idx="1">
                  <c:v>114383</c:v>
                </c:pt>
                <c:pt idx="2">
                  <c:v>113865</c:v>
                </c:pt>
                <c:pt idx="3">
                  <c:v>110981</c:v>
                </c:pt>
                <c:pt idx="4">
                  <c:v>101013</c:v>
                </c:pt>
                <c:pt idx="5">
                  <c:v>94082</c:v>
                </c:pt>
                <c:pt idx="6">
                  <c:v>92037</c:v>
                </c:pt>
                <c:pt idx="7">
                  <c:v>88726</c:v>
                </c:pt>
                <c:pt idx="8">
                  <c:v>84793</c:v>
                </c:pt>
                <c:pt idx="9">
                  <c:v>84727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F1-4F6A-8C7E-D4446C2E5B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55696656"/>
        <c:axId val="1855700016"/>
      </c:barChart>
      <c:catAx>
        <c:axId val="18556966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855700016"/>
        <c:crosses val="autoZero"/>
        <c:auto val="1"/>
        <c:lblAlgn val="ctr"/>
        <c:lblOffset val="100"/>
        <c:noMultiLvlLbl val="0"/>
      </c:catAx>
      <c:valAx>
        <c:axId val="18557000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855696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/>
              <a:t>Top 10 languages current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Lang_HaveWorkedWith!$B$1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Lang_HaveWorkedWith!$A$2:$A$11</c:f>
              <c:strCache>
                <c:ptCount val="10"/>
                <c:pt idx="0">
                  <c:v>JavaScript</c:v>
                </c:pt>
                <c:pt idx="1">
                  <c:v>HTML/CSS</c:v>
                </c:pt>
                <c:pt idx="2">
                  <c:v>Python</c:v>
                </c:pt>
                <c:pt idx="3">
                  <c:v>SQL</c:v>
                </c:pt>
                <c:pt idx="4">
                  <c:v>TypeScript</c:v>
                </c:pt>
                <c:pt idx="5">
                  <c:v>Bash/Shell (all shells)</c:v>
                </c:pt>
                <c:pt idx="6">
                  <c:v>Java</c:v>
                </c:pt>
                <c:pt idx="7">
                  <c:v>C#</c:v>
                </c:pt>
                <c:pt idx="8">
                  <c:v>C++</c:v>
                </c:pt>
                <c:pt idx="9">
                  <c:v>C</c:v>
                </c:pt>
              </c:strCache>
            </c:strRef>
          </c:cat>
          <c:val>
            <c:numRef>
              <c:f>Lang_HaveWorkedWith!$B$2:$B$11</c:f>
              <c:numCache>
                <c:formatCode>General</c:formatCode>
                <c:ptCount val="10"/>
                <c:pt idx="0">
                  <c:v>37492</c:v>
                </c:pt>
                <c:pt idx="1">
                  <c:v>31816</c:v>
                </c:pt>
                <c:pt idx="2">
                  <c:v>30719</c:v>
                </c:pt>
                <c:pt idx="3">
                  <c:v>30682</c:v>
                </c:pt>
                <c:pt idx="4">
                  <c:v>23150</c:v>
                </c:pt>
                <c:pt idx="5">
                  <c:v>20412</c:v>
                </c:pt>
                <c:pt idx="6">
                  <c:v>18239</c:v>
                </c:pt>
                <c:pt idx="7">
                  <c:v>16318</c:v>
                </c:pt>
                <c:pt idx="8">
                  <c:v>13827</c:v>
                </c:pt>
                <c:pt idx="9">
                  <c:v>12184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2D-4F28-B90E-AC538961D4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89023727"/>
        <c:axId val="1389021807"/>
      </c:barChart>
      <c:catAx>
        <c:axId val="13890237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89021807"/>
        <c:crosses val="autoZero"/>
        <c:auto val="1"/>
        <c:lblAlgn val="ctr"/>
        <c:lblOffset val="100"/>
        <c:noMultiLvlLbl val="0"/>
      </c:catAx>
      <c:valAx>
        <c:axId val="13890218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89023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it-IT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Top 10 languages next year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endParaRPr lang="it-IT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Lang_WantToWorkWith!$B$1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Lang_WantToWorkWith!$A$2:$A$11</c:f>
              <c:strCache>
                <c:ptCount val="10"/>
                <c:pt idx="0">
                  <c:v>Python</c:v>
                </c:pt>
                <c:pt idx="1">
                  <c:v>JavaScript</c:v>
                </c:pt>
                <c:pt idx="2">
                  <c:v>SQL</c:v>
                </c:pt>
                <c:pt idx="3">
                  <c:v>HTML/CSS</c:v>
                </c:pt>
                <c:pt idx="4">
                  <c:v>TypeScript</c:v>
                </c:pt>
                <c:pt idx="5">
                  <c:v>Rust</c:v>
                </c:pt>
                <c:pt idx="6">
                  <c:v>Go</c:v>
                </c:pt>
                <c:pt idx="7">
                  <c:v>Bash/Shell (all shells)</c:v>
                </c:pt>
                <c:pt idx="8">
                  <c:v>C#</c:v>
                </c:pt>
                <c:pt idx="9">
                  <c:v>C++</c:v>
                </c:pt>
              </c:strCache>
            </c:strRef>
          </c:cat>
          <c:val>
            <c:numRef>
              <c:f>Lang_WantToWorkWith!$B$2:$B$11</c:f>
              <c:numCache>
                <c:formatCode>General</c:formatCode>
                <c:ptCount val="10"/>
                <c:pt idx="0">
                  <c:v>25047</c:v>
                </c:pt>
                <c:pt idx="1">
                  <c:v>23774</c:v>
                </c:pt>
                <c:pt idx="2">
                  <c:v>22400</c:v>
                </c:pt>
                <c:pt idx="3">
                  <c:v>20721</c:v>
                </c:pt>
                <c:pt idx="4">
                  <c:v>20239</c:v>
                </c:pt>
                <c:pt idx="5">
                  <c:v>17232</c:v>
                </c:pt>
                <c:pt idx="6">
                  <c:v>13837</c:v>
                </c:pt>
                <c:pt idx="7">
                  <c:v>13744</c:v>
                </c:pt>
                <c:pt idx="8">
                  <c:v>12921</c:v>
                </c:pt>
                <c:pt idx="9">
                  <c:v>10873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9E-45CF-AE24-B72BC2674C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89027087"/>
        <c:axId val="1389033807"/>
      </c:barChart>
      <c:catAx>
        <c:axId val="13890270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89033807"/>
        <c:crosses val="autoZero"/>
        <c:auto val="1"/>
        <c:lblAlgn val="ctr"/>
        <c:lblOffset val="100"/>
        <c:noMultiLvlLbl val="0"/>
      </c:catAx>
      <c:valAx>
        <c:axId val="13890338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890270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it-IT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Top 10 databases next year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endParaRPr lang="it-IT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DB_WantToWorkWith!$B$1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DB_WantToWorkWith!$A$2:$A$11</c:f>
              <c:strCache>
                <c:ptCount val="10"/>
                <c:pt idx="0">
                  <c:v>PostgreSQL</c:v>
                </c:pt>
                <c:pt idx="1">
                  <c:v>SQLite</c:v>
                </c:pt>
                <c:pt idx="2">
                  <c:v>MySQL</c:v>
                </c:pt>
                <c:pt idx="3">
                  <c:v>MongoDB</c:v>
                </c:pt>
                <c:pt idx="4">
                  <c:v>Redis</c:v>
                </c:pt>
                <c:pt idx="5">
                  <c:v>Microsoft SQL Server</c:v>
                </c:pt>
                <c:pt idx="6">
                  <c:v>Elasticsearch</c:v>
                </c:pt>
                <c:pt idx="7">
                  <c:v>MariaDB</c:v>
                </c:pt>
                <c:pt idx="8">
                  <c:v>Dynamodb</c:v>
                </c:pt>
                <c:pt idx="9">
                  <c:v>Supabase</c:v>
                </c:pt>
              </c:strCache>
            </c:strRef>
          </c:cat>
          <c:val>
            <c:numRef>
              <c:f>DB_WantToWorkWith!$B$2:$B$11</c:f>
              <c:numCache>
                <c:formatCode>General</c:formatCode>
                <c:ptCount val="10"/>
                <c:pt idx="0">
                  <c:v>24005</c:v>
                </c:pt>
                <c:pt idx="1">
                  <c:v>13489</c:v>
                </c:pt>
                <c:pt idx="2">
                  <c:v>12269</c:v>
                </c:pt>
                <c:pt idx="3">
                  <c:v>10982</c:v>
                </c:pt>
                <c:pt idx="4">
                  <c:v>10847</c:v>
                </c:pt>
                <c:pt idx="5">
                  <c:v>7905</c:v>
                </c:pt>
                <c:pt idx="6">
                  <c:v>6246</c:v>
                </c:pt>
                <c:pt idx="7">
                  <c:v>5947</c:v>
                </c:pt>
                <c:pt idx="8">
                  <c:v>3503</c:v>
                </c:pt>
                <c:pt idx="9">
                  <c:v>2930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CF-476E-90C1-CE1747F0D3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89060687"/>
        <c:axId val="1389065967"/>
      </c:barChart>
      <c:catAx>
        <c:axId val="13890606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89065967"/>
        <c:crosses val="autoZero"/>
        <c:auto val="1"/>
        <c:lblAlgn val="ctr"/>
        <c:lblOffset val="100"/>
        <c:noMultiLvlLbl val="0"/>
      </c:catAx>
      <c:valAx>
        <c:axId val="13890659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890606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it-IT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Top 10 databases current year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endParaRPr lang="it-IT"/>
          </a:p>
        </c:rich>
      </c:tx>
      <c:layout>
        <c:manualLayout>
          <c:xMode val="edge"/>
          <c:yMode val="edge"/>
          <c:x val="0.25804774115035217"/>
          <c:y val="2.38668866679946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DB_HaveWorkedWith!$B$1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DB_HaveWorkedWith!$A$2:$A$11</c:f>
              <c:strCache>
                <c:ptCount val="10"/>
                <c:pt idx="0">
                  <c:v>PostgreSQL</c:v>
                </c:pt>
                <c:pt idx="1">
                  <c:v>MySQL</c:v>
                </c:pt>
                <c:pt idx="2">
                  <c:v>SQLite</c:v>
                </c:pt>
                <c:pt idx="3">
                  <c:v>Microsoft SQL Server</c:v>
                </c:pt>
                <c:pt idx="4">
                  <c:v>MongoDB</c:v>
                </c:pt>
                <c:pt idx="5">
                  <c:v>Redis</c:v>
                </c:pt>
                <c:pt idx="6">
                  <c:v>MariaDB</c:v>
                </c:pt>
                <c:pt idx="7">
                  <c:v>Elasticsearch</c:v>
                </c:pt>
                <c:pt idx="8">
                  <c:v>Oracle</c:v>
                </c:pt>
                <c:pt idx="9">
                  <c:v>Dynamodb</c:v>
                </c:pt>
              </c:strCache>
            </c:strRef>
          </c:cat>
          <c:val>
            <c:numRef>
              <c:f>DB_HaveWorkedWith!$B$2:$B$11</c:f>
              <c:numCache>
                <c:formatCode>General</c:formatCode>
                <c:ptCount val="10"/>
                <c:pt idx="0">
                  <c:v>25536</c:v>
                </c:pt>
                <c:pt idx="1">
                  <c:v>21099</c:v>
                </c:pt>
                <c:pt idx="2">
                  <c:v>17365</c:v>
                </c:pt>
                <c:pt idx="3">
                  <c:v>13275</c:v>
                </c:pt>
                <c:pt idx="4">
                  <c:v>13007</c:v>
                </c:pt>
                <c:pt idx="5">
                  <c:v>10463</c:v>
                </c:pt>
                <c:pt idx="6">
                  <c:v>8991</c:v>
                </c:pt>
                <c:pt idx="7">
                  <c:v>6533</c:v>
                </c:pt>
                <c:pt idx="8">
                  <c:v>5273</c:v>
                </c:pt>
                <c:pt idx="9">
                  <c:v>4138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2A-49F6-AA65-AE6838BE6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89058287"/>
        <c:axId val="1389063567"/>
      </c:barChart>
      <c:catAx>
        <c:axId val="13890582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89063567"/>
        <c:crosses val="autoZero"/>
        <c:auto val="1"/>
        <c:lblAlgn val="ctr"/>
        <c:lblOffset val="100"/>
        <c:noMultiLvlLbl val="0"/>
      </c:catAx>
      <c:valAx>
        <c:axId val="13890635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890582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lang="en-US" dirty="0"/>
              <a:t>EMERGING TRENDS IN 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600200"/>
            <a:ext cx="5663291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Samuel De Jesus Da Cunha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01 June 2026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491" y="1600200"/>
            <a:ext cx="4226335" cy="38354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389349" y="1630528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Summarize key findings here</a:t>
            </a:r>
          </a:p>
          <a:p>
            <a:r>
              <a:rPr lang="en-US" sz="2200" dirty="0"/>
              <a:t>Data collection</a:t>
            </a:r>
          </a:p>
          <a:p>
            <a:r>
              <a:rPr lang="en-US" sz="2200" dirty="0"/>
              <a:t>Data wrangling</a:t>
            </a:r>
          </a:p>
          <a:p>
            <a:pPr lvl="1"/>
            <a:r>
              <a:rPr lang="en-US" sz="1800" dirty="0"/>
              <a:t>Find duplicates</a:t>
            </a:r>
          </a:p>
          <a:p>
            <a:pPr lvl="1"/>
            <a:r>
              <a:rPr lang="en-US" sz="1800" dirty="0"/>
              <a:t>Removing duplicates</a:t>
            </a:r>
          </a:p>
          <a:p>
            <a:pPr lvl="1"/>
            <a:r>
              <a:rPr lang="en-US" sz="1800" dirty="0"/>
              <a:t>Normalizing data</a:t>
            </a:r>
          </a:p>
          <a:p>
            <a:r>
              <a:rPr lang="en-US" sz="2200" dirty="0"/>
              <a:t>Exploratory data analysis</a:t>
            </a:r>
          </a:p>
          <a:p>
            <a:r>
              <a:rPr lang="en-US" sz="2200" dirty="0"/>
              <a:t>Data visualization</a:t>
            </a:r>
          </a:p>
          <a:p>
            <a:r>
              <a:rPr lang="en-US" sz="2200" dirty="0"/>
              <a:t>Create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6" y="2136507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Purpose of the report, Target Audience &amp; Value of the analysis</a:t>
            </a:r>
            <a:endParaRPr lang="en-US" sz="2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Stack Overflow</a:t>
            </a:r>
          </a:p>
          <a:p>
            <a:r>
              <a:rPr lang="en-US" sz="2200" dirty="0">
                <a:solidFill>
                  <a:schemeClr val="tx1"/>
                </a:solidFill>
              </a:rPr>
              <a:t>Problem</a:t>
            </a:r>
          </a:p>
          <a:p>
            <a:r>
              <a:rPr lang="en-US" sz="2200" dirty="0">
                <a:solidFill>
                  <a:schemeClr val="tx1"/>
                </a:solidFill>
              </a:rPr>
              <a:t>Question to ask</a:t>
            </a:r>
          </a:p>
          <a:p>
            <a:r>
              <a:rPr lang="en-US" sz="2200" dirty="0">
                <a:solidFill>
                  <a:schemeClr val="tx1"/>
                </a:solidFill>
              </a:rPr>
              <a:t>What to look for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Data sources, Data collection &amp; Data wrangling steps</a:t>
            </a:r>
          </a:p>
          <a:p>
            <a:r>
              <a:rPr lang="en-US" sz="2200" dirty="0"/>
              <a:t>Data collection and wrangling</a:t>
            </a:r>
          </a:p>
          <a:p>
            <a:pPr lvl="1"/>
            <a:r>
              <a:rPr lang="en-US" sz="1800" dirty="0"/>
              <a:t>Jobs API</a:t>
            </a:r>
          </a:p>
          <a:p>
            <a:pPr lvl="1"/>
            <a:r>
              <a:rPr lang="en-US" sz="1800" dirty="0"/>
              <a:t>Web scraping salaries</a:t>
            </a:r>
          </a:p>
          <a:p>
            <a:pPr lvl="1"/>
            <a:r>
              <a:rPr lang="en-US" sz="1800" dirty="0"/>
              <a:t>Survey results</a:t>
            </a:r>
          </a:p>
          <a:p>
            <a:r>
              <a:rPr lang="en-US" sz="2200" dirty="0"/>
              <a:t>Data analysis and visualization</a:t>
            </a:r>
          </a:p>
          <a:p>
            <a:pPr lvl="1"/>
            <a:r>
              <a:rPr lang="en-US" sz="1800" dirty="0" err="1"/>
              <a:t>Ecploring</a:t>
            </a:r>
            <a:r>
              <a:rPr lang="en-US" sz="1800" dirty="0"/>
              <a:t> data</a:t>
            </a:r>
          </a:p>
          <a:p>
            <a:pPr lvl="1"/>
            <a:r>
              <a:rPr lang="en-US" sz="1800" dirty="0"/>
              <a:t>Analysis data</a:t>
            </a:r>
          </a:p>
          <a:p>
            <a:pPr lvl="1"/>
            <a:r>
              <a:rPr lang="en-US" sz="1800" dirty="0"/>
              <a:t>Create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7B35-92B8-C737-3DEB-4A57887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98033"/>
            <a:ext cx="10571747" cy="1091735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DDB6-5B82-F3F8-80C1-FE555825BAF5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1D5615A7-55B9-E0F5-0A84-57A35A57B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68" y="2101175"/>
            <a:ext cx="2972979" cy="2972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D1E5C-FB56-616C-9776-6EF59DA07045}"/>
              </a:ext>
            </a:extLst>
          </p:cNvPr>
          <p:cNvSpPr txBox="1"/>
          <p:nvPr/>
        </p:nvSpPr>
        <p:spPr>
          <a:xfrm>
            <a:off x="3818965" y="3126000"/>
            <a:ext cx="74133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</a:pPr>
            <a:r>
              <a:rPr lang="en-US" sz="2400" dirty="0"/>
              <a:t>Look data from survey, make decisions, analyze and create presentation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383051"/>
            <a:ext cx="5833456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graphicFrame>
        <p:nvGraphicFramePr>
          <p:cNvPr id="14" name="Grafico 13">
            <a:extLst>
              <a:ext uri="{FF2B5EF4-FFF2-40B4-BE49-F238E27FC236}">
                <a16:creationId xmlns:a16="http://schemas.microsoft.com/office/drawing/2014/main" id="{94332523-4AF3-A53C-E5E8-E00FF9DE15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3693676"/>
              </p:ext>
            </p:extLst>
          </p:nvPr>
        </p:nvGraphicFramePr>
        <p:xfrm>
          <a:off x="3105150" y="1708614"/>
          <a:ext cx="6800850" cy="4101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536" y="383051"/>
            <a:ext cx="57087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graphicFrame>
        <p:nvGraphicFramePr>
          <p:cNvPr id="2" name="Grafico 1">
            <a:extLst>
              <a:ext uri="{FF2B5EF4-FFF2-40B4-BE49-F238E27FC236}">
                <a16:creationId xmlns:a16="http://schemas.microsoft.com/office/drawing/2014/main" id="{B08EA7E7-56FC-32DE-1A34-8AA8146C54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8027196"/>
              </p:ext>
            </p:extLst>
          </p:nvPr>
        </p:nvGraphicFramePr>
        <p:xfrm>
          <a:off x="2771774" y="1716880"/>
          <a:ext cx="7800975" cy="4455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4305" y="2063170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3170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C5862-9AB9-9679-23B5-A950E973AFB5}"/>
              </a:ext>
            </a:extLst>
          </p:cNvPr>
          <p:cNvSpPr txBox="1"/>
          <p:nvPr/>
        </p:nvSpPr>
        <p:spPr>
          <a:xfrm>
            <a:off x="924305" y="1475244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Summarize key trends shown in the charts.</a:t>
            </a:r>
          </a:p>
        </p:txBody>
      </p:sp>
      <p:graphicFrame>
        <p:nvGraphicFramePr>
          <p:cNvPr id="2" name="Grafico 1">
            <a:extLst>
              <a:ext uri="{FF2B5EF4-FFF2-40B4-BE49-F238E27FC236}">
                <a16:creationId xmlns:a16="http://schemas.microsoft.com/office/drawing/2014/main" id="{613F8830-F8A9-7D15-91DB-B521264D3C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5226318"/>
              </p:ext>
            </p:extLst>
          </p:nvPr>
        </p:nvGraphicFramePr>
        <p:xfrm>
          <a:off x="440266" y="275236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Grafico 4">
            <a:extLst>
              <a:ext uri="{FF2B5EF4-FFF2-40B4-BE49-F238E27FC236}">
                <a16:creationId xmlns:a16="http://schemas.microsoft.com/office/drawing/2014/main" id="{4FAB549B-D12A-EF50-7281-76E67814FA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0321389"/>
              </p:ext>
            </p:extLst>
          </p:nvPr>
        </p:nvGraphicFramePr>
        <p:xfrm>
          <a:off x="5832071" y="269137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1471562" cy="1330037"/>
          </a:xfrm>
        </p:spPr>
        <p:txBody>
          <a:bodyPr>
            <a:noAutofit/>
          </a:bodyPr>
          <a:lstStyle/>
          <a:p>
            <a:r>
              <a:rPr lang="en-US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it-IT" dirty="0"/>
              <a:t>Python Takes the Lead</a:t>
            </a:r>
          </a:p>
          <a:p>
            <a:r>
              <a:rPr lang="it-IT" dirty="0"/>
              <a:t>Rust and Go </a:t>
            </a:r>
            <a:r>
              <a:rPr lang="it-IT" dirty="0" err="1"/>
              <a:t>enter</a:t>
            </a:r>
            <a:r>
              <a:rPr lang="it-IT" dirty="0"/>
              <a:t> </a:t>
            </a:r>
            <a:r>
              <a:rPr lang="it-IT" dirty="0" err="1"/>
              <a:t>strongly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modern</a:t>
            </a:r>
            <a:r>
              <a:rPr lang="it-IT" dirty="0"/>
              <a:t> </a:t>
            </a:r>
            <a:r>
              <a:rPr lang="it-IT" dirty="0" err="1"/>
              <a:t>alternatives</a:t>
            </a:r>
            <a:r>
              <a:rPr lang="it-IT" dirty="0"/>
              <a:t>.</a:t>
            </a:r>
          </a:p>
          <a:p>
            <a:r>
              <a:rPr lang="it-IT" dirty="0"/>
              <a:t>C </a:t>
            </a:r>
            <a:r>
              <a:rPr lang="it-IT" dirty="0" err="1"/>
              <a:t>completely</a:t>
            </a:r>
            <a:r>
              <a:rPr lang="it-IT" dirty="0"/>
              <a:t> exits the Top 10 list; C++ </a:t>
            </a:r>
            <a:r>
              <a:rPr lang="it-IT" dirty="0" err="1"/>
              <a:t>falls</a:t>
            </a:r>
            <a:r>
              <a:rPr lang="it-IT" dirty="0"/>
              <a:t> to last place.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it-IT" dirty="0"/>
              <a:t>AI &amp; Data Science Boom </a:t>
            </a:r>
            <a:r>
              <a:rPr lang="it-IT" dirty="0" err="1"/>
              <a:t>Python's</a:t>
            </a:r>
            <a:r>
              <a:rPr lang="it-IT" dirty="0"/>
              <a:t> rise </a:t>
            </a:r>
            <a:r>
              <a:rPr lang="it-IT" dirty="0" err="1"/>
              <a:t>confirms</a:t>
            </a:r>
            <a:r>
              <a:rPr lang="it-IT" dirty="0"/>
              <a:t> massive </a:t>
            </a:r>
            <a:r>
              <a:rPr lang="it-IT" dirty="0" err="1"/>
              <a:t>industry</a:t>
            </a:r>
            <a:r>
              <a:rPr lang="it-IT" dirty="0"/>
              <a:t> </a:t>
            </a:r>
            <a:r>
              <a:rPr lang="it-IT" dirty="0" err="1"/>
              <a:t>alignment</a:t>
            </a:r>
            <a:r>
              <a:rPr lang="it-IT" dirty="0"/>
              <a:t> with AI/ML.</a:t>
            </a:r>
          </a:p>
          <a:p>
            <a:r>
              <a:rPr lang="it-IT" dirty="0" err="1"/>
              <a:t>Infrastructure</a:t>
            </a:r>
            <a:r>
              <a:rPr lang="it-IT" dirty="0"/>
              <a:t> </a:t>
            </a:r>
            <a:r>
              <a:rPr lang="it-IT" dirty="0" err="1"/>
              <a:t>Modernization</a:t>
            </a:r>
            <a:endParaRPr lang="it-IT" dirty="0"/>
          </a:p>
          <a:p>
            <a:r>
              <a:rPr lang="it-IT" dirty="0" err="1"/>
              <a:t>Transition</a:t>
            </a:r>
            <a:r>
              <a:rPr lang="it-IT" dirty="0"/>
              <a:t> from C/C++ to Rust/Go highlights </a:t>
            </a:r>
            <a:r>
              <a:rPr lang="it-IT" dirty="0" err="1"/>
              <a:t>safety</a:t>
            </a:r>
            <a:r>
              <a:rPr lang="it-IT" dirty="0"/>
              <a:t> and cloud performance.</a:t>
            </a:r>
          </a:p>
          <a:p>
            <a:r>
              <a:rPr lang="it-IT" dirty="0"/>
              <a:t>Stack </a:t>
            </a:r>
            <a:r>
              <a:rPr lang="it-IT" dirty="0" err="1"/>
              <a:t>Fragmentation</a:t>
            </a:r>
            <a:endParaRPr lang="it-IT" dirty="0"/>
          </a:p>
          <a:p>
            <a:r>
              <a:rPr lang="it-IT" dirty="0"/>
              <a:t>Lower overall volume points to developer </a:t>
            </a:r>
            <a:r>
              <a:rPr lang="it-IT" dirty="0" err="1"/>
              <a:t>dispersion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dirty="0" err="1"/>
              <a:t>niche</a:t>
            </a:r>
            <a:r>
              <a:rPr lang="it-IT" dirty="0"/>
              <a:t> tools.</a:t>
            </a:r>
          </a:p>
          <a:p>
            <a:endParaRPr lang="it-IT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2065128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5127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A0CDF-0FE0-1DE3-5B09-44D4318623B8}"/>
              </a:ext>
            </a:extLst>
          </p:cNvPr>
          <p:cNvSpPr txBox="1"/>
          <p:nvPr/>
        </p:nvSpPr>
        <p:spPr>
          <a:xfrm>
            <a:off x="881252" y="1476527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Summarize key trends shown in the charts.</a:t>
            </a:r>
          </a:p>
        </p:txBody>
      </p:sp>
      <p:graphicFrame>
        <p:nvGraphicFramePr>
          <p:cNvPr id="8" name="Grafico 7">
            <a:extLst>
              <a:ext uri="{FF2B5EF4-FFF2-40B4-BE49-F238E27FC236}">
                <a16:creationId xmlns:a16="http://schemas.microsoft.com/office/drawing/2014/main" id="{3ACA5EFD-7E9F-E71A-39B5-6093C75EE8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7018446"/>
              </p:ext>
            </p:extLst>
          </p:nvPr>
        </p:nvGraphicFramePr>
        <p:xfrm>
          <a:off x="6172199" y="2985951"/>
          <a:ext cx="5002731" cy="3058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Grafico 8">
            <a:extLst>
              <a:ext uri="{FF2B5EF4-FFF2-40B4-BE49-F238E27FC236}">
                <a16:creationId xmlns:a16="http://schemas.microsoft.com/office/drawing/2014/main" id="{2AA64B5A-93EC-67AD-B149-4420304A81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3356326"/>
              </p:ext>
            </p:extLst>
          </p:nvPr>
        </p:nvGraphicFramePr>
        <p:xfrm>
          <a:off x="592667" y="2919334"/>
          <a:ext cx="5143990" cy="3192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1457214" cy="97530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it-IT" dirty="0" err="1"/>
              <a:t>PostgreSQL</a:t>
            </a:r>
            <a:r>
              <a:rPr lang="it-IT" dirty="0"/>
              <a:t> </a:t>
            </a:r>
            <a:r>
              <a:rPr lang="it-IT" dirty="0" err="1"/>
              <a:t>Undisputed</a:t>
            </a:r>
            <a:r>
              <a:rPr lang="it-IT" dirty="0"/>
              <a:t> Leader</a:t>
            </a:r>
          </a:p>
          <a:p>
            <a:r>
              <a:rPr lang="it-IT" dirty="0" err="1"/>
              <a:t>Supabase</a:t>
            </a:r>
            <a:r>
              <a:rPr lang="it-IT" dirty="0"/>
              <a:t> </a:t>
            </a:r>
            <a:r>
              <a:rPr lang="it-IT" dirty="0" err="1"/>
              <a:t>successfully</a:t>
            </a:r>
            <a:r>
              <a:rPr lang="it-IT" dirty="0"/>
              <a:t> </a:t>
            </a:r>
            <a:r>
              <a:rPr lang="it-IT" dirty="0" err="1"/>
              <a:t>debuts</a:t>
            </a:r>
            <a:r>
              <a:rPr lang="it-IT" dirty="0"/>
              <a:t> in the Top 10 list for </a:t>
            </a:r>
            <a:r>
              <a:rPr lang="it-IT" dirty="0" err="1"/>
              <a:t>next</a:t>
            </a:r>
            <a:r>
              <a:rPr lang="it-IT" dirty="0"/>
              <a:t> </a:t>
            </a:r>
            <a:r>
              <a:rPr lang="it-IT" dirty="0" err="1"/>
              <a:t>year</a:t>
            </a:r>
            <a:r>
              <a:rPr lang="it-IT" dirty="0"/>
              <a:t>.</a:t>
            </a:r>
          </a:p>
          <a:p>
            <a:r>
              <a:rPr lang="it-IT" dirty="0"/>
              <a:t>Massive volume </a:t>
            </a:r>
            <a:r>
              <a:rPr lang="it-IT" dirty="0" err="1"/>
              <a:t>reduction</a:t>
            </a:r>
            <a:r>
              <a:rPr lang="it-IT" dirty="0"/>
              <a:t> for </a:t>
            </a:r>
            <a:r>
              <a:rPr lang="it-IT" dirty="0" err="1"/>
              <a:t>mainstays</a:t>
            </a:r>
            <a:r>
              <a:rPr lang="it-IT" dirty="0"/>
              <a:t> like MySQL, </a:t>
            </a:r>
            <a:r>
              <a:rPr lang="it-IT" dirty="0" err="1"/>
              <a:t>SQLite</a:t>
            </a:r>
            <a:r>
              <a:rPr lang="it-IT" dirty="0"/>
              <a:t>, and </a:t>
            </a:r>
            <a:r>
              <a:rPr lang="it-IT" dirty="0" err="1"/>
              <a:t>MongoDB</a:t>
            </a:r>
            <a:r>
              <a:rPr lang="it-IT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it-IT" dirty="0" err="1"/>
              <a:t>PostgreSQL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now</a:t>
            </a:r>
            <a:r>
              <a:rPr lang="it-IT" dirty="0"/>
              <a:t> the </a:t>
            </a:r>
            <a:r>
              <a:rPr lang="it-IT" dirty="0" err="1"/>
              <a:t>safest</a:t>
            </a:r>
            <a:r>
              <a:rPr lang="it-IT" dirty="0"/>
              <a:t>, </a:t>
            </a: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reliable</a:t>
            </a:r>
            <a:r>
              <a:rPr lang="it-IT" dirty="0"/>
              <a:t> </a:t>
            </a:r>
            <a:r>
              <a:rPr lang="it-IT" dirty="0" err="1"/>
              <a:t>bet</a:t>
            </a:r>
            <a:r>
              <a:rPr lang="it-IT" dirty="0"/>
              <a:t> for </a:t>
            </a:r>
            <a:r>
              <a:rPr lang="it-IT" dirty="0" err="1"/>
              <a:t>infrastructure</a:t>
            </a:r>
            <a:r>
              <a:rPr lang="it-IT" dirty="0"/>
              <a:t> investment.</a:t>
            </a:r>
          </a:p>
          <a:p>
            <a:r>
              <a:rPr lang="it-IT" dirty="0"/>
              <a:t>Shift to Open-Source &amp; </a:t>
            </a:r>
            <a:r>
              <a:rPr lang="it-IT" dirty="0" err="1"/>
              <a:t>BaaS</a:t>
            </a:r>
            <a:r>
              <a:rPr lang="it-IT" dirty="0"/>
              <a:t> </a:t>
            </a:r>
            <a:r>
              <a:rPr lang="it-IT" dirty="0" err="1"/>
              <a:t>Supabase's</a:t>
            </a:r>
            <a:r>
              <a:rPr lang="it-IT" dirty="0"/>
              <a:t> rise highlights the </a:t>
            </a:r>
            <a:r>
              <a:rPr lang="it-IT" dirty="0" err="1"/>
              <a:t>rapid</a:t>
            </a:r>
            <a:r>
              <a:rPr lang="it-IT" dirty="0"/>
              <a:t> adoption of cloud-native developer </a:t>
            </a:r>
            <a:r>
              <a:rPr lang="it-IT" dirty="0" err="1"/>
              <a:t>tooling</a:t>
            </a:r>
            <a:r>
              <a:rPr lang="it-IT" dirty="0"/>
              <a:t>.</a:t>
            </a:r>
          </a:p>
          <a:p>
            <a:r>
              <a:rPr lang="it-IT" dirty="0"/>
              <a:t>Data Stack </a:t>
            </a:r>
            <a:r>
              <a:rPr lang="it-IT" dirty="0" err="1"/>
              <a:t>Consolidation</a:t>
            </a:r>
            <a:r>
              <a:rPr lang="it-IT" dirty="0"/>
              <a:t>, General </a:t>
            </a:r>
            <a:r>
              <a:rPr lang="it-IT" dirty="0" err="1"/>
              <a:t>contraction</a:t>
            </a:r>
            <a:r>
              <a:rPr lang="it-IT" dirty="0"/>
              <a:t> in </a:t>
            </a:r>
            <a:r>
              <a:rPr lang="it-IT" dirty="0" err="1"/>
              <a:t>mid-tier</a:t>
            </a:r>
            <a:r>
              <a:rPr lang="it-IT" dirty="0"/>
              <a:t> </a:t>
            </a:r>
            <a:r>
              <a:rPr lang="it-IT" dirty="0" err="1"/>
              <a:t>volumes</a:t>
            </a:r>
            <a:r>
              <a:rPr lang="it-IT" dirty="0"/>
              <a:t> </a:t>
            </a:r>
            <a:r>
              <a:rPr lang="it-IT" dirty="0" err="1"/>
              <a:t>suggests</a:t>
            </a:r>
            <a:r>
              <a:rPr lang="it-IT" dirty="0"/>
              <a:t> teams are </a:t>
            </a:r>
            <a:r>
              <a:rPr lang="it-IT" dirty="0" err="1"/>
              <a:t>shrinking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data </a:t>
            </a:r>
            <a:r>
              <a:rPr lang="it-IT" dirty="0" err="1"/>
              <a:t>stacks</a:t>
            </a:r>
            <a:r>
              <a:rPr lang="it-IT" dirty="0"/>
              <a:t>.</a:t>
            </a:r>
          </a:p>
          <a:p>
            <a:endParaRPr lang="it-IT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&lt;https://github.com/xocafa7805-del/ibm-data-analysis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2" y="365125"/>
            <a:ext cx="11087100" cy="985693"/>
          </a:xfrm>
        </p:spPr>
        <p:txBody>
          <a:bodyPr anchor="ctr">
            <a:noAutofit/>
          </a:bodyPr>
          <a:lstStyle/>
          <a:p>
            <a:r>
              <a:rPr lang="en-US" dirty="0"/>
              <a:t>DASHBOARD TAB 1: Current Technology Usage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6BB8829-22B6-EF90-2857-63D4026305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672"/>
          <a:stretch>
            <a:fillRect/>
          </a:stretch>
        </p:blipFill>
        <p:spPr>
          <a:xfrm>
            <a:off x="1871073" y="1524073"/>
            <a:ext cx="8449854" cy="47824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531380"/>
            <a:ext cx="11055926" cy="1016866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2: Future Technology Trends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AC5706D-17D3-F1F8-5FC1-A170E188BF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434"/>
          <a:stretch>
            <a:fillRect/>
          </a:stretch>
        </p:blipFill>
        <p:spPr>
          <a:xfrm>
            <a:off x="2054215" y="1601848"/>
            <a:ext cx="8402223" cy="472477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 TAB 3: Demographics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0C9C3FB-1CFF-B830-129D-3F42AF1F5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362" y="1510605"/>
            <a:ext cx="8421275" cy="498227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282" y="2348628"/>
            <a:ext cx="3054361" cy="3054361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1155" y="3315420"/>
            <a:ext cx="6272645" cy="1120775"/>
          </a:xfrm>
        </p:spPr>
        <p:txBody>
          <a:bodyPr/>
          <a:lstStyle/>
          <a:p>
            <a:r>
              <a:rPr lang="en-US" dirty="0"/>
              <a:t>Discuss overall insights derived from dashboards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it-IT" dirty="0" err="1"/>
              <a:t>Majority</a:t>
            </a:r>
            <a:r>
              <a:rPr lang="it-IT" dirty="0"/>
              <a:t> of </a:t>
            </a:r>
            <a:r>
              <a:rPr lang="it-IT" dirty="0" err="1"/>
              <a:t>respondents</a:t>
            </a:r>
            <a:r>
              <a:rPr lang="it-IT" dirty="0"/>
              <a:t> are male</a:t>
            </a:r>
          </a:p>
          <a:p>
            <a:r>
              <a:rPr lang="it-IT" dirty="0" err="1"/>
              <a:t>Most</a:t>
            </a:r>
            <a:r>
              <a:rPr lang="it-IT" dirty="0"/>
              <a:t> of the </a:t>
            </a:r>
            <a:r>
              <a:rPr lang="it-IT" dirty="0" err="1"/>
              <a:t>respondents</a:t>
            </a:r>
            <a:r>
              <a:rPr lang="it-IT" dirty="0"/>
              <a:t>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the ages of 25-34 </a:t>
            </a:r>
          </a:p>
          <a:p>
            <a:r>
              <a:rPr lang="it-IT" dirty="0" err="1"/>
              <a:t>Most</a:t>
            </a:r>
            <a:r>
              <a:rPr lang="it-IT" dirty="0"/>
              <a:t> of the </a:t>
            </a:r>
            <a:r>
              <a:rPr lang="it-IT" dirty="0" err="1"/>
              <a:t>respondents</a:t>
            </a:r>
            <a:r>
              <a:rPr lang="it-IT" dirty="0"/>
              <a:t> are from </a:t>
            </a:r>
            <a:r>
              <a:rPr lang="it-IT" dirty="0" err="1"/>
              <a:t>developed</a:t>
            </a:r>
            <a:r>
              <a:rPr lang="it-IT" dirty="0"/>
              <a:t> </a:t>
            </a:r>
            <a:r>
              <a:rPr lang="it-IT" dirty="0" err="1"/>
              <a:t>english</a:t>
            </a:r>
            <a:r>
              <a:rPr lang="it-IT" dirty="0"/>
              <a:t> </a:t>
            </a:r>
            <a:r>
              <a:rPr lang="it-IT" dirty="0" err="1"/>
              <a:t>speaking</a:t>
            </a:r>
            <a:r>
              <a:rPr lang="it-IT" dirty="0"/>
              <a:t> </a:t>
            </a:r>
            <a:r>
              <a:rPr lang="it-IT" dirty="0" err="1"/>
              <a:t>nations</a:t>
            </a:r>
            <a:r>
              <a:rPr lang="it-IT" dirty="0"/>
              <a:t> </a:t>
            </a:r>
          </a:p>
          <a:p>
            <a:r>
              <a:rPr lang="it-IT" dirty="0"/>
              <a:t>The </a:t>
            </a: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important</a:t>
            </a:r>
            <a:r>
              <a:rPr lang="it-IT" dirty="0"/>
              <a:t> </a:t>
            </a:r>
            <a:r>
              <a:rPr lang="it-IT" dirty="0" err="1"/>
              <a:t>factor</a:t>
            </a:r>
            <a:r>
              <a:rPr lang="it-IT" dirty="0"/>
              <a:t> for a Job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Languages</a:t>
            </a:r>
            <a:r>
              <a:rPr lang="it-IT" dirty="0"/>
              <a:t> and Technologies </a:t>
            </a:r>
            <a:r>
              <a:rPr lang="it-IT" dirty="0" err="1"/>
              <a:t>used</a:t>
            </a:r>
            <a:r>
              <a:rPr lang="it-IT" dirty="0"/>
              <a:t> </a:t>
            </a:r>
          </a:p>
          <a:p>
            <a:r>
              <a:rPr lang="it-IT" dirty="0"/>
              <a:t>Erlang </a:t>
            </a:r>
            <a:r>
              <a:rPr lang="it-IT" dirty="0" err="1"/>
              <a:t>has</a:t>
            </a:r>
            <a:r>
              <a:rPr lang="it-IT" dirty="0"/>
              <a:t> one of the </a:t>
            </a:r>
            <a:r>
              <a:rPr lang="it-IT" dirty="0" err="1"/>
              <a:t>highest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it-IT" dirty="0"/>
              <a:t>The </a:t>
            </a:r>
            <a:r>
              <a:rPr lang="it-IT" dirty="0" err="1"/>
              <a:t>respondents</a:t>
            </a:r>
            <a:r>
              <a:rPr lang="it-IT" dirty="0"/>
              <a:t> </a:t>
            </a:r>
            <a:r>
              <a:rPr lang="it-IT" dirty="0" err="1"/>
              <a:t>being</a:t>
            </a:r>
            <a:r>
              <a:rPr lang="it-IT" dirty="0"/>
              <a:t> more no the </a:t>
            </a:r>
            <a:r>
              <a:rPr lang="it-IT" dirty="0" err="1"/>
              <a:t>young</a:t>
            </a:r>
            <a:r>
              <a:rPr lang="it-IT" dirty="0"/>
              <a:t> side </a:t>
            </a:r>
            <a:r>
              <a:rPr lang="it-IT" dirty="0" err="1"/>
              <a:t>could</a:t>
            </a:r>
            <a:r>
              <a:rPr lang="it-IT" dirty="0"/>
              <a:t> </a:t>
            </a:r>
            <a:r>
              <a:rPr lang="it-IT" dirty="0" err="1"/>
              <a:t>explain</a:t>
            </a:r>
            <a:r>
              <a:rPr lang="it-IT" dirty="0"/>
              <a:t> the </a:t>
            </a:r>
            <a:r>
              <a:rPr lang="it-IT" dirty="0" err="1"/>
              <a:t>tendency</a:t>
            </a:r>
            <a:r>
              <a:rPr lang="it-IT" dirty="0"/>
              <a:t> to </a:t>
            </a:r>
            <a:r>
              <a:rPr lang="it-IT" dirty="0" err="1"/>
              <a:t>want</a:t>
            </a:r>
            <a:r>
              <a:rPr lang="it-IT" dirty="0"/>
              <a:t> to </a:t>
            </a:r>
            <a:r>
              <a:rPr lang="it-IT" dirty="0" err="1"/>
              <a:t>adopt</a:t>
            </a:r>
            <a:r>
              <a:rPr lang="it-IT" dirty="0"/>
              <a:t> </a:t>
            </a:r>
            <a:r>
              <a:rPr lang="it-IT" dirty="0" err="1"/>
              <a:t>newer</a:t>
            </a:r>
            <a:r>
              <a:rPr lang="it-IT" dirty="0"/>
              <a:t> </a:t>
            </a:r>
            <a:r>
              <a:rPr lang="it-IT" dirty="0" err="1"/>
              <a:t>languages</a:t>
            </a:r>
            <a:r>
              <a:rPr lang="it-IT" dirty="0"/>
              <a:t> and </a:t>
            </a:r>
            <a:r>
              <a:rPr lang="it-IT" dirty="0" err="1"/>
              <a:t>technologies</a:t>
            </a:r>
            <a:r>
              <a:rPr lang="it-IT" dirty="0"/>
              <a:t> </a:t>
            </a:r>
          </a:p>
          <a:p>
            <a:r>
              <a:rPr lang="it-IT" dirty="0"/>
              <a:t>All the </a:t>
            </a:r>
            <a:r>
              <a:rPr lang="it-IT" dirty="0" err="1"/>
              <a:t>technologies</a:t>
            </a:r>
            <a:r>
              <a:rPr lang="it-IT" dirty="0"/>
              <a:t> in the survey are English-</a:t>
            </a:r>
            <a:r>
              <a:rPr lang="it-IT" dirty="0" err="1"/>
              <a:t>based</a:t>
            </a:r>
            <a:r>
              <a:rPr lang="it-IT" dirty="0"/>
              <a:t>,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could</a:t>
            </a:r>
            <a:r>
              <a:rPr lang="it-IT" dirty="0"/>
              <a:t> stem from the </a:t>
            </a:r>
            <a:r>
              <a:rPr lang="it-IT" dirty="0" err="1"/>
              <a:t>respondents</a:t>
            </a:r>
            <a:r>
              <a:rPr lang="it-IT" dirty="0"/>
              <a:t> </a:t>
            </a:r>
            <a:r>
              <a:rPr lang="it-IT" dirty="0" err="1"/>
              <a:t>being</a:t>
            </a:r>
            <a:r>
              <a:rPr lang="it-IT" dirty="0"/>
              <a:t> </a:t>
            </a:r>
            <a:r>
              <a:rPr lang="it-IT" dirty="0" err="1"/>
              <a:t>predominantly</a:t>
            </a:r>
            <a:r>
              <a:rPr lang="it-IT" dirty="0"/>
              <a:t> English </a:t>
            </a:r>
          </a:p>
          <a:p>
            <a:r>
              <a:rPr lang="en-US" dirty="0"/>
              <a:t>Demand and shortage of skills generate higher wages.</a:t>
            </a:r>
            <a:endParaRPr lang="it-IT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/>
              <a:t>1. </a:t>
            </a:r>
            <a:r>
              <a:rPr lang="it-IT" b="1" dirty="0" err="1"/>
              <a:t>Python's</a:t>
            </a:r>
            <a:r>
              <a:rPr lang="it-IT" b="1" dirty="0"/>
              <a:t> Absolute </a:t>
            </a:r>
            <a:r>
              <a:rPr lang="it-IT" b="1" dirty="0" err="1"/>
              <a:t>Dominance</a:t>
            </a:r>
            <a:r>
              <a:rPr lang="it-IT" b="1" dirty="0"/>
              <a:t>:</a:t>
            </a:r>
            <a:r>
              <a:rPr lang="it-IT" dirty="0"/>
              <a:t> Python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established</a:t>
            </a:r>
            <a:r>
              <a:rPr lang="it-IT" dirty="0"/>
              <a:t> </a:t>
            </a:r>
            <a:r>
              <a:rPr lang="it-IT" dirty="0" err="1"/>
              <a:t>unmatched</a:t>
            </a:r>
            <a:r>
              <a:rPr lang="it-IT" dirty="0"/>
              <a:t> </a:t>
            </a:r>
            <a:r>
              <a:rPr lang="it-IT" dirty="0" err="1"/>
              <a:t>supremacy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the </a:t>
            </a:r>
            <a:r>
              <a:rPr lang="it-IT" dirty="0" err="1"/>
              <a:t>primary</a:t>
            </a:r>
            <a:r>
              <a:rPr lang="it-IT" dirty="0"/>
              <a:t> </a:t>
            </a:r>
            <a:r>
              <a:rPr lang="it-IT" dirty="0" err="1"/>
              <a:t>language</a:t>
            </a:r>
            <a:r>
              <a:rPr lang="it-IT" dirty="0"/>
              <a:t> developers </a:t>
            </a:r>
            <a:r>
              <a:rPr lang="it-IT" dirty="0" err="1"/>
              <a:t>want</a:t>
            </a:r>
            <a:r>
              <a:rPr lang="it-IT" dirty="0"/>
              <a:t> to work with </a:t>
            </a:r>
            <a:r>
              <a:rPr lang="it-IT" dirty="0" err="1"/>
              <a:t>next</a:t>
            </a:r>
            <a:r>
              <a:rPr lang="it-IT" dirty="0"/>
              <a:t>, </a:t>
            </a:r>
            <a:r>
              <a:rPr lang="it-IT" dirty="0" err="1"/>
              <a:t>heavily</a:t>
            </a:r>
            <a:r>
              <a:rPr lang="it-IT" dirty="0"/>
              <a:t> </a:t>
            </a:r>
            <a:r>
              <a:rPr lang="it-IT" dirty="0" err="1"/>
              <a:t>propelled</a:t>
            </a:r>
            <a:r>
              <a:rPr lang="it-IT" dirty="0"/>
              <a:t> by the massive industrial </a:t>
            </a:r>
            <a:r>
              <a:rPr lang="it-IT" dirty="0" err="1"/>
              <a:t>acceleration</a:t>
            </a:r>
            <a:r>
              <a:rPr lang="it-IT" dirty="0"/>
              <a:t> of </a:t>
            </a:r>
            <a:r>
              <a:rPr lang="it-IT" dirty="0" err="1"/>
              <a:t>Artificial</a:t>
            </a:r>
            <a:r>
              <a:rPr lang="it-IT" dirty="0"/>
              <a:t> Intelligence, Machine Learning, and Data Science.</a:t>
            </a:r>
          </a:p>
          <a:p>
            <a:r>
              <a:rPr lang="it-IT" b="1" dirty="0"/>
              <a:t>2. </a:t>
            </a:r>
            <a:r>
              <a:rPr lang="it-IT" b="1" dirty="0" err="1"/>
              <a:t>Modern</a:t>
            </a:r>
            <a:r>
              <a:rPr lang="it-IT" b="1" dirty="0"/>
              <a:t> Systems Migration:</a:t>
            </a:r>
            <a:r>
              <a:rPr lang="it-IT" dirty="0"/>
              <a:t> 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active</a:t>
            </a:r>
            <a:r>
              <a:rPr lang="it-IT" dirty="0"/>
              <a:t> system-</a:t>
            </a:r>
            <a:r>
              <a:rPr lang="it-IT" dirty="0" err="1"/>
              <a:t>level</a:t>
            </a:r>
            <a:r>
              <a:rPr lang="it-IT" dirty="0"/>
              <a:t> shift </a:t>
            </a:r>
            <a:r>
              <a:rPr lang="it-IT" dirty="0" err="1"/>
              <a:t>away</a:t>
            </a:r>
            <a:r>
              <a:rPr lang="it-IT" dirty="0"/>
              <a:t> from legacy setups; </a:t>
            </a:r>
            <a:r>
              <a:rPr lang="it-IT" dirty="0" err="1"/>
              <a:t>traditional</a:t>
            </a:r>
            <a:r>
              <a:rPr lang="it-IT" dirty="0"/>
              <a:t> systems programming in C and C++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visibly</a:t>
            </a:r>
            <a:r>
              <a:rPr lang="it-IT" dirty="0"/>
              <a:t> </a:t>
            </a:r>
            <a:r>
              <a:rPr lang="it-IT" dirty="0" err="1"/>
              <a:t>contracting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developers </a:t>
            </a:r>
            <a:r>
              <a:rPr lang="it-IT" dirty="0" err="1"/>
              <a:t>strongly</a:t>
            </a:r>
            <a:r>
              <a:rPr lang="it-IT" dirty="0"/>
              <a:t> favor </a:t>
            </a:r>
            <a:r>
              <a:rPr lang="it-IT" dirty="0" err="1"/>
              <a:t>modern</a:t>
            </a:r>
            <a:r>
              <a:rPr lang="it-IT" dirty="0"/>
              <a:t>, </a:t>
            </a:r>
            <a:r>
              <a:rPr lang="it-IT" dirty="0" err="1"/>
              <a:t>memory</a:t>
            </a:r>
            <a:r>
              <a:rPr lang="it-IT" dirty="0"/>
              <a:t>-safe, and </a:t>
            </a:r>
            <a:r>
              <a:rPr lang="it-IT" dirty="0" err="1"/>
              <a:t>concurrent</a:t>
            </a:r>
            <a:r>
              <a:rPr lang="it-IT" dirty="0"/>
              <a:t> </a:t>
            </a:r>
            <a:r>
              <a:rPr lang="it-IT" dirty="0" err="1"/>
              <a:t>languages</a:t>
            </a:r>
            <a:r>
              <a:rPr lang="it-IT" dirty="0"/>
              <a:t> like Rust and Go.</a:t>
            </a:r>
          </a:p>
          <a:p>
            <a:r>
              <a:rPr lang="it-IT" b="1" dirty="0"/>
              <a:t>3. </a:t>
            </a:r>
            <a:r>
              <a:rPr lang="it-IT" b="1" dirty="0" err="1"/>
              <a:t>PostgreSQL</a:t>
            </a:r>
            <a:r>
              <a:rPr lang="it-IT" b="1" dirty="0"/>
              <a:t> </a:t>
            </a:r>
            <a:r>
              <a:rPr lang="it-IT" b="1" dirty="0" err="1"/>
              <a:t>Consolidation</a:t>
            </a:r>
            <a:r>
              <a:rPr lang="it-IT" b="1" dirty="0"/>
              <a:t>:</a:t>
            </a:r>
            <a:r>
              <a:rPr lang="it-IT" dirty="0"/>
              <a:t> </a:t>
            </a:r>
            <a:r>
              <a:rPr lang="it-IT" dirty="0" err="1"/>
              <a:t>PostgreSQL</a:t>
            </a:r>
            <a:r>
              <a:rPr lang="it-IT" dirty="0"/>
              <a:t> </a:t>
            </a:r>
            <a:r>
              <a:rPr lang="it-IT" dirty="0" err="1"/>
              <a:t>remains</a:t>
            </a:r>
            <a:r>
              <a:rPr lang="it-IT" dirty="0"/>
              <a:t> the </a:t>
            </a:r>
            <a:r>
              <a:rPr lang="it-IT" dirty="0" err="1"/>
              <a:t>undisputed</a:t>
            </a:r>
            <a:r>
              <a:rPr lang="it-IT" dirty="0"/>
              <a:t> </a:t>
            </a:r>
            <a:r>
              <a:rPr lang="it-IT" dirty="0" err="1"/>
              <a:t>cornerstone</a:t>
            </a:r>
            <a:r>
              <a:rPr lang="it-IT" dirty="0"/>
              <a:t> for </a:t>
            </a:r>
            <a:r>
              <a:rPr lang="it-IT" dirty="0" err="1"/>
              <a:t>relational</a:t>
            </a:r>
            <a:r>
              <a:rPr lang="it-IT" dirty="0"/>
              <a:t> database design. </a:t>
            </a:r>
            <a:r>
              <a:rPr lang="it-IT" dirty="0" err="1"/>
              <a:t>Simultaneously</a:t>
            </a:r>
            <a:r>
              <a:rPr lang="it-IT" dirty="0"/>
              <a:t>, the </a:t>
            </a:r>
            <a:r>
              <a:rPr lang="it-IT" dirty="0" err="1"/>
              <a:t>rapid</a:t>
            </a:r>
            <a:r>
              <a:rPr lang="it-IT" dirty="0"/>
              <a:t> </a:t>
            </a:r>
            <a:r>
              <a:rPr lang="it-IT" dirty="0" err="1"/>
              <a:t>debut</a:t>
            </a:r>
            <a:r>
              <a:rPr lang="it-IT" dirty="0"/>
              <a:t> of </a:t>
            </a:r>
            <a:r>
              <a:rPr lang="it-IT" dirty="0" err="1"/>
              <a:t>lightweight</a:t>
            </a:r>
            <a:r>
              <a:rPr lang="it-IT" dirty="0"/>
              <a:t> open-source </a:t>
            </a:r>
            <a:r>
              <a:rPr lang="it-IT" dirty="0" err="1"/>
              <a:t>alternatives</a:t>
            </a:r>
            <a:r>
              <a:rPr lang="it-IT" dirty="0"/>
              <a:t> like </a:t>
            </a:r>
            <a:r>
              <a:rPr lang="it-IT" dirty="0" err="1"/>
              <a:t>Supabase</a:t>
            </a:r>
            <a:r>
              <a:rPr lang="it-IT" dirty="0"/>
              <a:t> </a:t>
            </a:r>
            <a:r>
              <a:rPr lang="it-IT" dirty="0" err="1"/>
              <a:t>signals</a:t>
            </a:r>
            <a:r>
              <a:rPr lang="it-IT" dirty="0"/>
              <a:t> a </a:t>
            </a:r>
            <a:r>
              <a:rPr lang="it-IT" dirty="0" err="1"/>
              <a:t>rising</a:t>
            </a:r>
            <a:r>
              <a:rPr lang="it-IT" dirty="0"/>
              <a:t> developer appetite for agile, cloud-native </a:t>
            </a:r>
            <a:r>
              <a:rPr lang="it-IT" dirty="0" err="1"/>
              <a:t>backend</a:t>
            </a:r>
            <a:r>
              <a:rPr lang="it-IT" dirty="0"/>
              <a:t> </a:t>
            </a:r>
            <a:r>
              <a:rPr lang="it-IT" dirty="0" err="1"/>
              <a:t>tooling</a:t>
            </a:r>
            <a:r>
              <a:rPr lang="it-IT" dirty="0"/>
              <a:t>.</a:t>
            </a:r>
          </a:p>
          <a:p>
            <a:r>
              <a:rPr lang="it-IT" b="1" dirty="0"/>
              <a:t>4. Youth-</a:t>
            </a:r>
            <a:r>
              <a:rPr lang="it-IT" b="1" dirty="0" err="1"/>
              <a:t>Driven</a:t>
            </a:r>
            <a:r>
              <a:rPr lang="it-IT" b="1" dirty="0"/>
              <a:t> Innovation:</a:t>
            </a:r>
            <a:r>
              <a:rPr lang="it-IT" dirty="0"/>
              <a:t> A </a:t>
            </a:r>
            <a:r>
              <a:rPr lang="it-IT" dirty="0" err="1"/>
              <a:t>highly</a:t>
            </a:r>
            <a:r>
              <a:rPr lang="it-IT" dirty="0"/>
              <a:t> </a:t>
            </a:r>
            <a:r>
              <a:rPr lang="it-IT" dirty="0" err="1"/>
              <a:t>concentrated</a:t>
            </a:r>
            <a:r>
              <a:rPr lang="it-IT" dirty="0"/>
              <a:t> </a:t>
            </a:r>
            <a:r>
              <a:rPr lang="it-IT" dirty="0" err="1"/>
              <a:t>demographic</a:t>
            </a:r>
            <a:r>
              <a:rPr lang="it-IT" dirty="0"/>
              <a:t> in the 25-34 age </a:t>
            </a:r>
            <a:r>
              <a:rPr lang="it-IT" dirty="0" err="1"/>
              <a:t>bracket</a:t>
            </a:r>
            <a:r>
              <a:rPr lang="it-IT" dirty="0"/>
              <a:t> (41.3% of the survey_data.xlsx dataset) acts </a:t>
            </a:r>
            <a:r>
              <a:rPr lang="it-IT" dirty="0" err="1"/>
              <a:t>as</a:t>
            </a:r>
            <a:r>
              <a:rPr lang="it-IT" dirty="0"/>
              <a:t> the core driver for </a:t>
            </a:r>
            <a:r>
              <a:rPr lang="it-IT" dirty="0" err="1"/>
              <a:t>rapid</a:t>
            </a:r>
            <a:r>
              <a:rPr lang="it-IT" dirty="0"/>
              <a:t> </a:t>
            </a:r>
            <a:r>
              <a:rPr lang="it-IT" dirty="0" err="1"/>
              <a:t>technological</a:t>
            </a:r>
            <a:r>
              <a:rPr lang="it-IT" dirty="0"/>
              <a:t> adoption, </a:t>
            </a:r>
            <a:r>
              <a:rPr lang="it-IT" dirty="0" err="1"/>
              <a:t>bypassing</a:t>
            </a:r>
            <a:r>
              <a:rPr lang="it-IT" dirty="0"/>
              <a:t> </a:t>
            </a:r>
            <a:r>
              <a:rPr lang="it-IT" dirty="0" err="1"/>
              <a:t>rigid</a:t>
            </a:r>
            <a:r>
              <a:rPr lang="it-IT" dirty="0"/>
              <a:t> </a:t>
            </a:r>
            <a:r>
              <a:rPr lang="it-IT" dirty="0" err="1"/>
              <a:t>enterprise</a:t>
            </a:r>
            <a:r>
              <a:rPr lang="it-IT" dirty="0"/>
              <a:t> </a:t>
            </a:r>
            <a:r>
              <a:rPr lang="it-IT" dirty="0" err="1"/>
              <a:t>platforms</a:t>
            </a:r>
            <a:r>
              <a:rPr lang="it-IT" dirty="0"/>
              <a:t> in favor of </a:t>
            </a:r>
            <a:r>
              <a:rPr lang="it-IT" dirty="0" err="1"/>
              <a:t>flexible</a:t>
            </a:r>
            <a:r>
              <a:rPr lang="it-IT" dirty="0"/>
              <a:t>, community-</a:t>
            </a:r>
            <a:r>
              <a:rPr lang="it-IT" dirty="0" err="1"/>
              <a:t>driven</a:t>
            </a:r>
            <a:r>
              <a:rPr lang="it-IT" dirty="0"/>
              <a:t> </a:t>
            </a:r>
            <a:r>
              <a:rPr lang="it-IT" dirty="0" err="1"/>
              <a:t>ecosystems</a:t>
            </a:r>
            <a:r>
              <a:rPr lang="it-IT" dirty="0"/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648</Words>
  <Application>Microsoft Office PowerPoint</Application>
  <PresentationFormat>Widescreen</PresentationFormat>
  <Paragraphs>107</Paragraphs>
  <Slides>19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7" baseType="lpstr">
      <vt:lpstr>Arial</vt:lpstr>
      <vt:lpstr>Calibri</vt:lpstr>
      <vt:lpstr>Helv</vt:lpstr>
      <vt:lpstr>IBM Plex Mono</vt:lpstr>
      <vt:lpstr>IBM Plex Mono Medium</vt:lpstr>
      <vt:lpstr>IBM Plex Sans</vt:lpstr>
      <vt:lpstr>IBM Plex Sans SemiBold</vt:lpstr>
      <vt:lpstr>SLIDE_TEMPLATE_skill_network</vt:lpstr>
      <vt:lpstr>EMERGING TRENDS IN SOFTWARE</vt:lpstr>
      <vt:lpstr>Presentazione standard di PowerPoint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1: Current Technology Usage</vt:lpstr>
      <vt:lpstr>DASHBOARD TAB 2: Future Technology Trends</vt:lpstr>
      <vt:lpstr>DASHBOARD TAB 3: Demographics</vt:lpstr>
      <vt:lpstr>DISCUSSION</vt:lpstr>
      <vt:lpstr>OVERALL FINDINGS &amp; IMPLICATIONS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sam</cp:lastModifiedBy>
  <cp:revision>9</cp:revision>
  <dcterms:created xsi:type="dcterms:W3CDTF">2024-10-30T05:40:03Z</dcterms:created>
  <dcterms:modified xsi:type="dcterms:W3CDTF">2026-06-02T15:09:58Z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